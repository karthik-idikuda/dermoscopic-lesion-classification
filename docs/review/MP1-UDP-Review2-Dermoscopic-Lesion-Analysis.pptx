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3" r:id="rId3"/>
    <p:sldMasterId id="2147483676" r:id="rId4"/>
  </p:sldMasterIdLst>
  <p:sldIdLst>
    <p:sldId id="256" r:id="rId5"/>
    <p:sldId id="257" r:id="rId6"/>
    <p:sldId id="258" r:id="rId7"/>
    <p:sldId id="259" r:id="rId8"/>
    <p:sldId id="260" r:id="rId9"/>
    <p:sldId id="269" r:id="rId19"/>
    <p:sldId id="270" r:id="rId20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5.xml"/><Relationship Id="rId4" Type="http://schemas.openxmlformats.org/officeDocument/2006/relationships/slideMaster" Target="slideMasters/slideMaster27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319248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7320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31176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body"/>
          </p:nvPr>
        </p:nvSpPr>
        <p:spPr>
          <a:xfrm>
            <a:off x="319248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body"/>
          </p:nvPr>
        </p:nvSpPr>
        <p:spPr>
          <a:xfrm>
            <a:off x="607320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522000" y="295920"/>
            <a:ext cx="8098920" cy="59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DejaVu Sans"/>
              </a:rPr>
              <a:t>Click to add title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"/>
          </p:nvPr>
        </p:nvSpPr>
        <p:spPr>
          <a:xfrm>
            <a:off x="459000" y="4735800"/>
            <a:ext cx="2023920" cy="23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2"/>
          </p:nvPr>
        </p:nvSpPr>
        <p:spPr>
          <a:xfrm>
            <a:off x="3087000" y="4735800"/>
            <a:ext cx="2968920" cy="23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3"/>
          </p:nvPr>
        </p:nvSpPr>
        <p:spPr>
          <a:xfrm>
            <a:off x="6658200" y="4735800"/>
            <a:ext cx="2023920" cy="23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6610A8D-BBAD-4C4D-985E-68E2335EAF8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DejaVu Sans"/>
              </a:rPr>
              <a:t>&lt;date/time&gt;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1D3828-CAED-4C1B-B867-95F92EF5AD80}" type="slidenum"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1904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656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6;p1"/>
          <p:cNvPicPr/>
          <p:nvPr/>
        </p:nvPicPr>
        <p:blipFill>
          <a:blip r:embed="rId2"/>
          <a:stretch/>
        </p:blipFill>
        <p:spPr>
          <a:xfrm>
            <a:off x="5760" y="2160"/>
            <a:ext cx="9131040" cy="51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oogle Shape;7;p1"/>
          <p:cNvPicPr/>
          <p:nvPr/>
        </p:nvPicPr>
        <p:blipFill>
          <a:blip r:embed="rId3"/>
          <a:stretch/>
        </p:blipFill>
        <p:spPr>
          <a:xfrm>
            <a:off x="-12960" y="-2160"/>
            <a:ext cx="9150120" cy="51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10;p1"/>
          <p:cNvPicPr/>
          <p:nvPr/>
        </p:nvPicPr>
        <p:blipFill>
          <a:blip r:embed="rId4"/>
          <a:stretch/>
        </p:blipFill>
        <p:spPr>
          <a:xfrm>
            <a:off x="7363440" y="148680"/>
            <a:ext cx="1494000" cy="3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319248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6073200" y="86364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31176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 type="body"/>
          </p:nvPr>
        </p:nvSpPr>
        <p:spPr>
          <a:xfrm>
            <a:off x="319248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7"/>
          <p:cNvSpPr>
            <a:spLocks noGrp="1"/>
          </p:cNvSpPr>
          <p:nvPr>
            <p:ph type="body"/>
          </p:nvPr>
        </p:nvSpPr>
        <p:spPr>
          <a:xfrm>
            <a:off x="6073200" y="2648160"/>
            <a:ext cx="2742120" cy="162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120" cy="32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120" cy="32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dt" idx="7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ftr" idx="8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sldNum" idx="9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F71F405C-3BD1-4703-9588-B2D261DA9369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7120" cy="61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7120" cy="276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6200" cy="61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6200" cy="276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dt" idx="10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 type="ftr" idx="1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8"/>
          <p:cNvSpPr>
            <a:spLocks noGrp="1"/>
          </p:cNvSpPr>
          <p:nvPr>
            <p:ph type="sldNum" idx="1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0A5F89D5-531B-4BBE-91DC-9D10AC8DFE8C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dt" idx="1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ftr" idx="14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sldNum" idx="15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814440F3-E444-495F-881C-8DB8002CA97E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dt" idx="16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ftr" idx="17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8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30C52083-29ED-4B25-8650-E2E1F4EB10E7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040" cy="11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160" cy="365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040" cy="285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9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ftr" idx="20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6"/>
          <p:cNvSpPr>
            <a:spLocks noGrp="1"/>
          </p:cNvSpPr>
          <p:nvPr>
            <p:ph type="sldNum" idx="21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0F9ED894-CE86-4B22-8291-8EB6C3D361FB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040" cy="11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160" cy="365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040" cy="285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dt" idx="22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ftr" idx="23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6"/>
          <p:cNvSpPr>
            <a:spLocks noGrp="1"/>
          </p:cNvSpPr>
          <p:nvPr>
            <p:ph type="sldNum" idx="24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37192746-7366-4B48-BFF3-2D341A6A5A43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dt" idx="25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ftr" idx="26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27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279C14AE-B0AB-4DE6-B812-75A229D25D45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5800" cy="32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dt" idx="28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ftr" idx="29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sldNum" idx="30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BDD8FA31-263D-4CD7-A535-699B1313F873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543720" y="273960"/>
            <a:ext cx="1970640" cy="43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28560" y="273960"/>
            <a:ext cx="5799600" cy="43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dt" idx="31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ftr" idx="32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sldNum" idx="33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EB80D948-8C21-4459-BB5F-5993D00A1C69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580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5800" cy="32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34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ftr" idx="35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sldNum" idx="36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948D6099-B924-4A58-B474-C1AD9079E955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5800" cy="213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5800" cy="112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lang="en-US" sz="1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37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38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39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1C882846-55BF-4A70-B9AD-77643BDE986C}" type="slidenum">
              <a:rPr lang="en-IN" sz="9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531360" y="4127760"/>
            <a:ext cx="375768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wrap="square">
            <a:spAutoFit/>
          </a:bodyPr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sz="1300" b="0">
                <a:solidFill>
                  <a:srgbClr val="101823"/>
                </a:solidFill>
              </a:rPr>
              <a:t>Presented By  —  &lt;&lt; your name &gt;&gt;, &lt;&lt; team member &gt;&gt;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01823"/>
                </a:solidFill>
              </a:rPr>
              <a:t>Project Name :  Explainable Dermoscopic Lesion Analysis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01823"/>
                </a:solidFill>
              </a:rPr>
              <a:t>                        EfficientNet-B3 · Grad-CAM · ABCD morphometry · severity grading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01823"/>
                </a:solidFill>
              </a:rPr>
              <a:t>Mentor / Guide Name :  &lt;&lt; guide name &gt;&gt;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01823"/>
                </a:solidFill>
              </a:rPr>
              <a:t>UDP ID  -  U&lt;&lt; id &gt;&gt;</a:t>
            </a:r>
          </a:p>
        </p:txBody>
      </p:sp>
      <p:sp>
        <p:nvSpPr>
          <p:cNvPr id="217" name="TextBox 1"/>
          <p:cNvSpPr/>
          <p:nvPr/>
        </p:nvSpPr>
        <p:spPr>
          <a:xfrm>
            <a:off x="199800" y="105120"/>
            <a:ext cx="20613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</a:rPr>
              <a:t>Major Project – II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</a:rPr>
              <a:t>Review - 2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259920" y="134640"/>
            <a:ext cx="1339200" cy="671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 defTabSz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2400" b="1" u="none" spc="-6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Contents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" name="object 4"/>
          <p:cNvSpPr/>
          <p:nvPr/>
        </p:nvSpPr>
        <p:spPr>
          <a:xfrm>
            <a:off x="609480" y="819000"/>
            <a:ext cx="4577760" cy="37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78560" rIns="0" bIns="0" anchor="t" wrap="square">
            <a:spAutoFit/>
          </a:bodyPr>
          <a:p>
            <a:pPr marL="12600" indent="-216000" defTabSz="914400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Font typeface="Wingdings" charset="2"/>
              <a:buChar char=""/>
            </a:pPr>
            <a:r>
              <a:rPr sz="1400" b="0">
                <a:solidFill>
                  <a:srgbClr val="101823"/>
                </a:solidFill>
              </a:rPr>
              <a:t>Progress Since Review-1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01823"/>
                </a:solidFill>
              </a:rPr>
              <a:t>Project Objectives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01823"/>
                </a:solidFill>
              </a:rPr>
              <a:t>System Design / Architecture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01823"/>
                </a:solidFill>
              </a:rPr>
              <a:t>Module-wise Progress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01823"/>
                </a:solidFill>
              </a:rPr>
              <a:t>Implementation Progress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01823"/>
                </a:solidFill>
              </a:rPr>
              <a:t>AI Tools Used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01823"/>
                </a:solidFill>
              </a:rPr>
              <a:t>Challenges and Solutions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01823"/>
                </a:solidFill>
              </a:rPr>
              <a:t>Partial Output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01823"/>
                </a:solidFill>
              </a:rPr>
              <a:t>Plan for Review-3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01823"/>
                </a:solidFill>
              </a:rPr>
              <a:t>References</a:t>
            </a:r>
          </a:p>
        </p:txBody>
      </p:sp>
      <p:pic>
        <p:nvPicPr>
          <p:cNvPr id="220" name="Picture 2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228600"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Progress Since Review-1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311760" y="1051560"/>
            <a:ext cx="8519040" cy="233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228600" indent="0" algn="l" defTabSz="914400">
              <a:lnSpc>
                <a:spcPct val="90000"/>
              </a:lnSpc>
              <a:spcBef>
                <a:spcPts val="1191"/>
              </a:spcBef>
              <a:spcAft>
                <a:spcPts val="200"/>
              </a:spcAft>
              <a:buNone/>
              <a:tabLst>
                <a:tab pos="0" algn="l"/>
              </a:tabLst>
            </a:pPr>
            <a:r>
              <a:rPr sz="1100" b="0">
                <a:solidFill>
                  <a:srgbClr val="101823"/>
                </a:solidFill>
              </a:rPr>
              <a:t>Work completed before Review-1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HAM10000 studied: 10,015 images, 7 diagnostic classes, 67% melanocytic nevi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Exploratory analysis + SVM baseline (HOG + colour histogram)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EfficientNet-B3 training notebook, reported 80.17% accuracy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01823"/>
                </a:solidFill>
              </a:rPr>
              <a:t>Work completed after Review-1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Notebooks refactored into an installable package: 18 modules, 5,356 lines in src/derm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FastAPI backend with 12 endpoints + browser workstation UI (3,353 lines)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Explainability: Grad-CAM / Grad-CAM++ scored against the lesion mask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Quantitative Stolz ABCD morphometry as an independent, non-neural evidence stream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Uncertainty: TTA, MC dropout, predictive entropy, BALD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Severity grading (0-100) with one-directional safety overrides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Rule-based clinical narrative + PDF report, SQLite case store, change tracking</a:t>
            </a:r>
          </a:p>
          <a:p>
            <a:pPr lvl="1">
              <a:spcAft>
                <a:spcPts val="200"/>
              </a:spcAft>
            </a:pPr>
            <a:r>
              <a:rPr sz="1000" b="0">
                <a:solidFill>
                  <a:srgbClr val="101823"/>
                </a:solidFill>
              </a:rPr>
              <a:t>Reproducible data-leakage audit; 149 automated tests, all passing</a:t>
            </a:r>
          </a:p>
        </p:txBody>
      </p:sp>
      <p:pic>
        <p:nvPicPr>
          <p:cNvPr id="223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24" name=""/>
          <p:cNvGraphicFramePr/>
          <p:nvPr/>
        </p:nvGraphicFramePr>
        <p:xfrm>
          <a:off x="411480" y="3456432"/>
          <a:ext cx="6868439" cy="1039680"/>
        </p:xfrm>
        <a:graphic>
          <a:graphicData uri="http://schemas.openxmlformats.org/drawingml/2006/table">
            <a:tbl>
              <a:tblPr/>
              <a:tblGrid>
                <a:gridCol w="1785794"/>
                <a:gridCol w="4121064"/>
                <a:gridCol w="961581"/>
              </a:tblGrid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Review-1 Remark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Action Taken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00" b="0">
                          <a:solidFill>
                            <a:srgbClr val="101823"/>
                          </a:solidFill>
                        </a:rPr>
                        <a:t>1.  &lt;&lt; paste your actual Review-1 remark &gt;&gt;  e.g. “justify the reported accuracy”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00" b="0">
                          <a:solidFill>
                            <a:srgbClr val="101823"/>
                          </a:solidFill>
                        </a:rPr>
                        <a:t>Ran a reproducible leakage audit: the notebook's image-wise split leaks 36.13% of test images. Switched to lesion-grouped splitting (0% leakage) and tagged all notebook figures as self-reported.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00" b="0">
                          <a:solidFill>
                            <a:srgbClr val="101823"/>
                          </a:solidFill>
                        </a:rPr>
                        <a:t>Completed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00" b="0">
                          <a:solidFill>
                            <a:srgbClr val="101823"/>
                          </a:solidFill>
                        </a:rPr>
                        <a:t>2.  &lt;&lt; paste remark &gt;&gt;  e.g. “model must be explainable and have a working front end”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00" b="0">
                          <a:solidFill>
                            <a:srgbClr val="101823"/>
                          </a:solidFill>
                        </a:rPr>
                        <a:t>Added Grad-CAM/Grad-CAM++ with an attention-alignment score, ABCD morphometry, and a full FastAPI + browser application replacing the notebook-only workflow.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00" b="0">
                          <a:solidFill>
                            <a:srgbClr val="101823"/>
                          </a:solidFill>
                        </a:rPr>
                        <a:t>Completed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pc="-6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Project Objectives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8519040" cy="34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191"/>
              </a:spcBef>
              <a:spcAft>
                <a:spcPts val="150"/>
              </a:spcAft>
              <a:buClr>
                <a:srgbClr val="000000"/>
              </a:buClr>
              <a:buFont typeface="Arial"/>
              <a:buChar char="•"/>
            </a:pPr>
            <a:r>
              <a:rPr sz="1050" b="0">
                <a:solidFill>
                  <a:srgbClr val="101823"/>
                </a:solidFill>
              </a:rPr>
              <a:t>Original objectives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Classify dermoscopic images into the 7 HAM10000 categories with EfficientNet-B3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Benchmark against a classical SVM baseline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Produce a Grad-CAM visual explanation for each prediction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Derive an automated severity indication from the prediction</a:t>
            </a:r>
          </a:p>
          <a:p>
            <a:pPr>
              <a:spcAft>
                <a:spcPts val="150"/>
              </a:spcAft>
            </a:pPr>
            <a:r>
              <a:rPr sz="1050" b="0">
                <a:solidFill>
                  <a:srgbClr val="101823"/>
                </a:solidFill>
              </a:rPr>
              <a:t>Updated objectives (added after Review-1)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Quantitative Stolz ABCD morphometry — evidence that does not depend on learned weights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Uncertainty quantification so unsure cases are escalated, not silently guessed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Longitudinal change tracking — the “E” of ABCDE, which a single image cannot show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Deterministic clinical narrative + PDF report for handover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Reproducible data-integrity audit and a checkpoint verifier</a:t>
            </a:r>
          </a:p>
          <a:p>
            <a:pPr>
              <a:spcAft>
                <a:spcPts val="150"/>
              </a:spcAft>
            </a:pPr>
            <a:r>
              <a:rPr sz="1050" b="0">
                <a:solidFill>
                  <a:srgbClr val="101823"/>
                </a:solidFill>
              </a:rPr>
              <a:t>Scope modifications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Splitting changed from image-wise to lesion-grouped, to remove near-duplicate leakage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Training moved off local hardware: an 8 GB M2 drove swap to 13.9 GB (documented, not hidden)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Narrative kept rule-based rather than an LLM, so every sentence traces to a measurement</a:t>
            </a:r>
          </a:p>
        </p:txBody>
      </p:sp>
      <p:pic>
        <p:nvPicPr>
          <p:cNvPr id="227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System Design / Architecture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29" name="Picture 228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32688"/>
            <a:ext cx="8595360" cy="516128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pc="-6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Module-wise Progress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32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33" name=""/>
          <p:cNvGraphicFramePr/>
          <p:nvPr/>
        </p:nvGraphicFramePr>
        <p:xfrm>
          <a:off x="320040" y="960120"/>
          <a:ext cx="8470800" cy="3048840"/>
        </p:xfrm>
        <a:graphic>
          <a:graphicData uri="http://schemas.openxmlformats.org/drawingml/2006/table">
            <a:tbl>
              <a:tblPr/>
              <a:tblGrid>
                <a:gridCol w="1694160"/>
                <a:gridCol w="5590728"/>
                <a:gridCol w="1185912"/>
              </a:tblGrid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1. Preprocessing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Hair detection + Telea inpainting, Shades-of-Gray colour constancy, lens-vignette crop, EXIF handling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44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2. Quality &amp; OOD gate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Focus (variance of Laplacian), exposure, contrast, glare, and a skin-chromaticity test that rejects non-skin images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3. Segmentation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Lesion-enhanced Otsu, morphological cleanup, centrality-weighted component, ellipse fallback with reduced confidence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4. ABCD morphometry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Asymmetry about principal axes, 8-sector border irregularity, six-colour counting, structure approximation → TDS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5. Classification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EfficientNet-B3 (timm), checkpoint bundle with graceful untrained fallback and explicit weights_status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6. Explainability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Grad-CAM and Grad-CAM++ with hook cleanup, scored for attention alignment against the lesion mask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7. Uncertainty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Dihedral TTA, MC dropout, predictive entropy, BALD mutual information, verdict classification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8. Severity grading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Composite 0-100 score with one-directional melanoma / TDS / low-confidence safety overrides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9. Reporting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Deterministic rule-based narrative and ReportLab PDF export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10. Change tracking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Two-capture longitudinal comparison with optional millimetre calibration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11. Persistence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SQLite case store: history, filters, aggregate statistics, annotations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12. Backend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FastAPI service, 12 endpoints, Pydantic validation, optional API-key auth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13. Frontend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Vanilla-JS clinical workstation: studio, batch triage, tracking, history, metrics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14. Validation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149 automated tests on synthetic fixtures + smoke test + checkpoint verifier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15. Data integrity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Reproducible leakage audit written to docs/split_audit.json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16. Dataset acquisition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All 10,015 HAM10000 images downloaded from Harvard Dataverse and downscaled to 195 MB on disk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17. Trained weights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Classifier head fitted on frozen ImageNet EfficientNet-B3 features (linear probe); passes all 21 checkpoint verification checks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18. Evaluation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Measured on the leak-free test split: 53.7% balanced accuracy, 0.379 macro-F1, ROC-AUC 0.838, ECE 0.096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Complete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19. End-to-end fine-tune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Needs a CUDA GPU; the linear probe is the CPU-feasible substitute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Review-3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6708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20. Deployment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Containerisation, auth hardening and hosting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20" b="0">
                          <a:solidFill>
                            <a:srgbClr val="101823"/>
                          </a:solidFill>
                        </a:rPr>
                        <a:t>Review-3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Implementation Progress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ubTitle"/>
          </p:nvPr>
        </p:nvSpPr>
        <p:spPr>
          <a:xfrm>
            <a:off x="311760" y="932688"/>
            <a:ext cx="8519040" cy="77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wrap="square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300"/>
              </a:spcAft>
              <a:buNone/>
              <a:tabLst>
                <a:tab pos="0" algn="l"/>
              </a:tabLst>
            </a:pPr>
            <a:r>
              <a:rPr sz="1000" b="0">
                <a:solidFill>
                  <a:srgbClr val="4D5B6E"/>
                </a:solidFill>
              </a:rPr>
              <a:t>Technologies: Python 3.11 · PyTorch 2 + timm · OpenCV · scikit-image · scikit-learn · FastAPI + Uvicorn · Pydantic v2 · ReportLab · SQLite · vanilla HTML/CSS/ES2020 (no build step)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4D5B6E"/>
                </a:solidFill>
              </a:rPr>
              <a:t>Overall implementation: ~9,000 lines of application code and ~1,300 lines of tests.</a:t>
            </a:r>
          </a:p>
        </p:txBody>
      </p:sp>
      <p:pic>
        <p:nvPicPr>
          <p:cNvPr id="236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37" name=""/>
          <p:cNvGraphicFramePr/>
          <p:nvPr/>
        </p:nvGraphicFramePr>
        <p:xfrm>
          <a:off x="1417320" y="1828800"/>
          <a:ext cx="6592679" cy="1762560"/>
        </p:xfrm>
        <a:graphic>
          <a:graphicData uri="http://schemas.openxmlformats.org/drawingml/2006/table">
            <a:tbl>
              <a:tblPr/>
              <a:tblGrid>
                <a:gridCol w="5142290"/>
                <a:gridCol w="1450389"/>
              </a:tblGrid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Completion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Image processing pipeline (preprocess, quality, segmentation, ABCD)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100%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Explainability (Grad-CAM / Grad-CAM++, attention alignment)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100%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Uncertainty + severity grading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100%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Reporting, change tracking, case store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100%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FastAPI backend (12 endpoints)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100%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Frontend workstation UI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100%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Automated tests (149 passing) + leakage audit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100%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Dataset acquisition — all 10,015 images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100%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Trained weights (linear probe) + evaluation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100%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End-to-end fine-tune (needs a CUDA GPU)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40%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Deployment &amp; packaging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0">
                          <a:solidFill>
                            <a:srgbClr val="101823"/>
                          </a:solidFill>
                        </a:rPr>
                        <a:t>35%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AI Tools Used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39" name="Picture 3"/>
          <p:cNvPicPr/>
          <p:nvPr/>
        </p:nvPicPr>
        <p:blipFill>
          <a:blip r:embed="rId1"/>
          <a:stretch/>
        </p:blipFill>
        <p:spPr>
          <a:xfrm>
            <a:off x="7189200" y="41040"/>
            <a:ext cx="1793880" cy="594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40" name=""/>
          <p:cNvGraphicFramePr/>
          <p:nvPr/>
        </p:nvGraphicFramePr>
        <p:xfrm>
          <a:off x="274320" y="914400"/>
          <a:ext cx="8579158" cy="4017600"/>
        </p:xfrm>
        <a:graphic>
          <a:graphicData uri="http://schemas.openxmlformats.org/drawingml/2006/table">
            <a:tbl>
              <a:tblPr/>
              <a:tblGrid>
                <a:gridCol w="1115290"/>
                <a:gridCol w="1887415"/>
                <a:gridCol w="2916914"/>
                <a:gridCol w="2659539"/>
              </a:tblGrid>
              <a:tr h="80676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AI Tool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Sample Prompt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</a:tr>
              <a:tr h="80676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Kiro
(Claude Opus 5)
AI IDE agent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Primary development assistant: refactoring the notebooks into a package, writing the FastAPI service and the frontend, and generating the test suite.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“Analyse this HAM10000 notebook project in detail and convert it into a working frontend + backend application with Grad-CAM, ABCD morphometry and severity grading; all features must actually work.”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18-module src/derm package, 12-endpoint API and full UI. Verified by 149 passing tests and an end-to-end smoke test rather than by reading the code alone.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071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Kiro
(agentic debugging)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Root-causing defects that unit tests surfaced in the inference pipeline.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“MC dropout returns a standard deviation of ~1e-6, so the uncertainty estimate is inert. Find out why and fix it.”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Found that timm's EfficientNet applies dropout functionally, so model.train() alone did not make passes stochastic. Fix confirmed by an assertion that MC variance is non-zero.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52160">
                <a:tc gridSpan="4"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Kiro
(data audit)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Independently checking the accuracy claim carried over from Review-1.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“HAM10000 has repeated photographs of the same lesion. Quantify how much of the notebook's test set leaks from training, per class.”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Produced scripts/audit_leakage.py and docs/split_audit.json: 36.13% of test images leak, 63.5% for melanoma. Reproducible from the metadata CSV alone, so the finding is checkable, not asserted.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352160">
                <a:tc gridSpan="4"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Kiro
(working within a
hardware limit)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Obtaining real trained weights without a GPU, after full fine-tuning exhausted the machine's memory.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“Don't train images on my Mac. Download the dataset and make the whole project work end to end.”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Split transfer learning in two: forward-only feature extraction (bounded RAM, 472 MB peak) then a linear head fit in seconds. Balanced accuracy 14.3% → 53.7%. Verified by 21 checkpoint checks including per-class recall on real images, which is what proves the class order is not permuted.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352160">
                <a:tc gridSpan="4"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ChatGPT / Claude
(chat)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Clarifying the clinical basis of the Stolz ABCD rule and the Grad-CAM++ weighting before implementing them.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“Explain how the Stolz ABCD total dermoscopy score is weighted, and how Grad-CAM++ differs from Grad-CAM.”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Implementation cross-checked against the original papers; the TDS weights and the &gt;5.45 threshold were taken from the literature, not from the model's suggestion.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352160">
                <a:tc gridSpan="4"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GitHub Copilot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Inline completion for repetitive code: dataclass fields, argparse wiring, docstrings.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(inline completion, no discrete prompt)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Reduced boilerplate typing. All completions reviewed before commit; no completion was accepted into numerical logic unchecked.</a:t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352160">
                <a:tc gridSpan="4"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>&lt;&lt; remove any row your team did not actually use &gt;&gt;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/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/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 wrap="square">
                      <a:noAutofit/>
                    </a:bodyPr>
                    <a:p>
                      <a:r>
                        <a:rPr sz="640" b="0">
                          <a:solidFill>
                            <a:srgbClr val="101823"/>
                          </a:solidFill>
                        </a:rPr>
                        <a:t/>
                      </a:r>
                    </a:p>
                  </a:txBody>
                  <a:tcPr anchor="t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311760" y="57600"/>
            <a:ext cx="8519040" cy="60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Challenges and Solutions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2" name=""/>
          <p:cNvGraphicFramePr/>
          <p:nvPr/>
        </p:nvGraphicFramePr>
        <p:xfrm>
          <a:off x="320040" y="932688"/>
          <a:ext cx="8823600" cy="3049920"/>
        </p:xfrm>
        <a:graphic>
          <a:graphicData uri="http://schemas.openxmlformats.org/drawingml/2006/table">
            <a:tbl>
              <a:tblPr/>
              <a:tblGrid>
                <a:gridCol w="3705912"/>
                <a:gridCol w="5117688"/>
              </a:tblGrid>
              <a:tr h="40932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Solution Implemented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0D9488"/>
                    </a:solidFill>
                  </a:tcPr>
                </a:tc>
              </a:tr>
              <a:tr h="88020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Reported 80.17% accuracy could not be trusted: HAM10000 holds 10,015 images of only 7,470 lesions, so an image-wise split puts near-duplicate photographs of the same lesion in train and test.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Wrote a metadata-only audit (scripts/audit_leakage.py). Measured 36.13% test leakage overall, 70.1% for BCC and 63.5% for melanoma. Switched to lesion-grouped splitting, which audits at 0.00%. All unverified figures are now tagged self_reported in the UI.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8020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Severe class imbalance — 67% of the dataset is melanocytic nevi, so plain accuracy rewards a model that ignores melanoma.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Checkpoint selection on macro-F1 instead of accuracy, class-weighted loss, and balanced accuracy plus per-class recall reported alongside a melanoma safety-net catch rate.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8020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Training EfficientNet-B3 locally was not viable: on an 8 GB M2 the MPS backend drove swap to 13.9 GB and cut free disk from 9.2 GB to 2.9 GB in ninety seconds.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Diagnosed as a hardware limit, not a code defect, and documented. Added scripts/bench.py to measure throughput before committing, and a disk-frugal downloader that streams one archive at a time and downscales on extraction (2.9 GB → ~350 MB).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8020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A missing or mismatched checkpoint could silently yield confident, plausible, wrong diagnoses — the most dangerous failure mode here.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weights_status is surfaced through the API and the UI, and the app refuses to present untrained output as meaningful. scripts/verify_checkpoint.py additionally rejects wrong class counts, permuted class order, and uniform (untrained) outputs.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8020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MC dropout produced ~1e-6 variance, making the uncertainty estimate meaningless; Grad-CAM also failed inside torch.inference_mode().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timm applies dropout functionally, so train() alone was insufficient — stochasticity is now activated explicitly. Grad-CAM escapes the outer inference-mode context so gradients can flow. Both are covered by regression tests.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80200"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Hair, glare and the black lens barrel were being read as pigment, corrupting the ABCD measurements.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wrap="square">
                      <a:noAutofit/>
                    </a:bodyPr>
                    <a:p>
                      <a:r>
                        <a:rPr sz="700" b="0">
                          <a:solidFill>
                            <a:srgbClr val="101823"/>
                          </a:solidFill>
                        </a:rPr>
                        <a:t>Directional black-hat hair detection with Telea inpainting plus vignette cropping. The restored frame drives geometry only — the classifier still receives the un-restored image, avoiding a silent train/serve skew.</a:t>
                      </a:r>
                    </a:p>
                  </a:txBody>
                  <a:tcPr anchor="t" marL="45720" marR="45720" marT="18288" marB="18288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311760" y="57600"/>
            <a:ext cx="8519040" cy="60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Partial Output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rmAutofit/>
          </a:bodyPr>
          <a:p>
            <a:pPr marL="864000" indent="0" algn="l" defTabSz="914400">
              <a:lnSpc>
                <a:spcPct val="90000"/>
              </a:lnSpc>
              <a:spcBef>
                <a:spcPts val="499"/>
              </a:spcBef>
              <a:spcAft>
                <a:spcPts val="150"/>
              </a:spcAft>
              <a:buNone/>
              <a:tabLst>
                <a:tab pos="0" algn="l"/>
              </a:tabLst>
            </a:pPr>
            <a:r>
              <a:rPr sz="950" b="0">
                <a:solidFill>
                  <a:srgbClr val="101823"/>
                </a:solidFill>
              </a:rPr>
              <a:t>Working end-to-end today, with trained weights loaded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Demo flow: upload a dermoscopic image → quality gate → segmentation overlay → ABCD rings and TDS → ranked class probabilities → Grad-CAM split-view against the original → severity tier with recommended action → clinical narrative → PDF download.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Batch triage: many images scored and returned in severity order, so review time goes where the risk is.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Track change: two captures of one lesion compared, with millimetre measurement when a field-of-view width is supplied.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Case history: persisted cases with tier/class filters, aggregate statistics and annotation.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Model metrics: measured vs self-reported provenance, plus the leakage audit rendered in-app.</a:t>
            </a:r>
          </a:p>
          <a:p>
            <a:pPr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Measured results on the leak-free test split (1,523 images, 1,120 lesions)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Balanced accuracy 53.7% · accuracy 55.0% · macro-F1 0.379 · ROC-AUC 0.838 · ECE 0.096 after temperature scaling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Melanoma recall 55.5%; the severity safety net escalates 59.2% of true melanomas to HIGH/CRITICAL, at a 15.3% benign over-referral cost.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Chance is 14.3% and a trivial always-nevus model scores 14.3% balanced accuracy, so the head has genuinely learned.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Weights come from a LINEAR PROBE: the classifier head was fitted on frozen ImageNet EfficientNet-B3 features. The backbone was not fine-tuned, because that needs a GPU. Reported as a probe, never as a fine-tuned model.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149/149 automated tests passing; smoke test green across all 12 endpoints; checkpoint passes all 21 verification checks including class-order confirmation on real images.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Leakage audit reproducible from metadata: 36.13% image-wise vs 0.00% lesion-grouped.</a:t>
            </a:r>
          </a:p>
          <a:p>
            <a:pPr lvl="1">
              <a:spcAft>
                <a:spcPts val="150"/>
              </a:spcAft>
            </a:pPr>
            <a:r>
              <a:rPr sz="850" b="0">
                <a:solidFill>
                  <a:srgbClr val="101823"/>
                </a:solidFill>
              </a:rPr>
              <a:t>Full-pipeline CPU inference ≈ 2.9 s per image on an Apple M2.</a:t>
            </a:r>
          </a:p>
          <a:p>
            <a:pPr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&lt;&lt; paste UI screenshots here: analysis studio, Grad-CAM split view, batch triage, PDF report &gt;&gt;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311760" y="57600"/>
            <a:ext cx="8519040" cy="60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Plan for Review-3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rmAutofit/>
          </a:bodyPr>
          <a:p>
            <a:pPr marL="864000" indent="-324000" algn="l" defTabSz="914400">
              <a:lnSpc>
                <a:spcPct val="90000"/>
              </a:lnSpc>
              <a:spcBef>
                <a:spcPts val="499"/>
              </a:spcBef>
              <a:spcAft>
                <a:spcPts val="1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sz="1050" b="0">
                <a:solidFill>
                  <a:srgbClr val="101823"/>
                </a:solidFill>
              </a:rPr>
              <a:t>Remaining module implementation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Fine-tune the full backbone end to end on Kaggle / Colab / a CUDA GPU — the linear probe's 53.7% balanced accuracy is the CPU ceiling, not the method's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Expect the biggest gain on the rare classes: df precision is 0.065 and akiec 0.20, because a frozen ImageNet backbone has no dermoscopy-specific features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Re-verify with scripts/verify_checkpoint.py --images before trusting the result</a:t>
            </a:r>
          </a:p>
          <a:p>
            <a:pPr>
              <a:spcAft>
                <a:spcPts val="150"/>
              </a:spcAft>
            </a:pPr>
            <a:r>
              <a:rPr sz="1050" b="0">
                <a:solidFill>
                  <a:srgbClr val="101823"/>
                </a:solidFill>
              </a:rPr>
              <a:t>Testing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Extend the 149-test suite with trained-model integration tests and per-class recall floors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Re-run the melanoma safety-net audit against real weights</a:t>
            </a:r>
          </a:p>
          <a:p>
            <a:pPr>
              <a:spcAft>
                <a:spcPts val="150"/>
              </a:spcAft>
            </a:pPr>
            <a:r>
              <a:rPr sz="1050" b="0">
                <a:solidFill>
                  <a:srgbClr val="101823"/>
                </a:solidFill>
              </a:rPr>
              <a:t>Integration &amp; documentation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Regenerate docs/evaluation.json, confusion matrix and calibration figures from the real run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Replace every self_reported figure with a measured one, or state plainly that it is unverified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Final project report and user guide</a:t>
            </a:r>
          </a:p>
          <a:p>
            <a:pPr>
              <a:spcAft>
                <a:spcPts val="150"/>
              </a:spcAft>
            </a:pPr>
            <a:r>
              <a:rPr sz="1050" b="0">
                <a:solidFill>
                  <a:srgbClr val="101823"/>
                </a:solidFill>
              </a:rPr>
              <a:t>Performance optimisation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ONNX export / quantisation to cut the 2.9 s CPU inference time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Response caching for repeated figure and metrics requests</a:t>
            </a:r>
          </a:p>
          <a:p>
            <a:pPr>
              <a:spcAft>
                <a:spcPts val="150"/>
              </a:spcAft>
            </a:pPr>
            <a:r>
              <a:rPr sz="1050" b="0">
                <a:solidFill>
                  <a:srgbClr val="101823"/>
                </a:solidFill>
              </a:rPr>
              <a:t>Final deployment</a:t>
            </a:r>
          </a:p>
          <a:p>
            <a:pPr lvl="1">
              <a:spcAft>
                <a:spcPts val="150"/>
              </a:spcAft>
            </a:pPr>
            <a:r>
              <a:rPr sz="950" b="0">
                <a:solidFill>
                  <a:srgbClr val="101823"/>
                </a:solidFill>
              </a:rPr>
              <a:t>Containerise, enable DERM_API_KEY, serve over HTTPS, add structured logging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57600"/>
            <a:ext cx="8519040" cy="60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References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311760" y="863640"/>
            <a:ext cx="8519040" cy="341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spcAft>
                <a:spcPts val="350"/>
              </a:spcAft>
              <a:buNone/>
            </a:pPr>
            <a:r>
              <a:rPr sz="950" b="0">
                <a:solidFill>
                  <a:srgbClr val="101823"/>
                </a:solidFill>
              </a:rPr>
              <a:t>1.  Tschandl P., Rosendahl C., Kittler H. The HAM10000 dataset, a large collection of multi-source dermatoscopic images of common pigmented skin lesions. Scientific Data 5, 180161 (2018). doi:10.1038/sdata.2018.161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2.  Harvard Dataverse, HAM10000 distribution. doi:10.7910/DVN/DBW86T (CC BY-NC 4.0).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3.  Tan M., Le Q. EfficientNet: Rethinking Model Scaling for Convolutional Neural Networks. ICML 2019.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4.  Selvaraju R. R. et al. Grad-CAM: Visual Explanations from Deep Networks via Gradient-based Localization. ICCV 2017.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5.  Chattopadhyay A. et al. Grad-CAM++: Improved Visual Explanations for Deep Convolutional Networks. WACV 2018.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6.  Gal Y., Ghahramani Z. Dropout as a Bayesian Approximation: Representing Model Uncertainty in Deep Learning. ICML 2016.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7.  Houlsby N. et al. Bayesian Active Learning for Classification and Preference Learning. arXiv:1112.5745 (2011).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8.  Guo C. et al. On Calibration of Modern Neural Networks. ICML 2017.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9.  Stolz W. et al. ABCD rule of dermatoscopy: a new practical method for early recognition of malignant melanoma. European Journal of Dermatology, 1994.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10. Telea A. An Image Inpainting Technique Based on the Fast Marching Method. Journal of Graphics Tools, 2004.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11. Finlayson G., Trezzi E. Shades of Gray and Colour Constancy. Color Imaging Conference, 2004.</a:t>
            </a:r>
          </a:p>
          <a:p>
            <a:pPr>
              <a:spcAft>
                <a:spcPts val="350"/>
              </a:spcAft>
            </a:pPr>
            <a:r>
              <a:rPr sz="950" b="0">
                <a:solidFill>
                  <a:srgbClr val="101823"/>
                </a:solidFill>
              </a:rPr>
              <a:t>12. Wightman R. PyTorch Image Models (timm). github.com/huggingface/pytorch-image-models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wrap="square">
            <a:noAutofit/>
          </a:bodyPr>
          <a:p>
            <a:pPr indent="0" algn="l" defTabSz="914400">
              <a:lnSpc>
                <a:spcPct val="9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sz="3400" b="1">
                <a:solidFill>
                  <a:srgbClr val="101823"/>
                </a:solidFill>
              </a:rPr>
              <a:t>Thank You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title"/>
          </p:nvPr>
        </p:nvSpPr>
        <p:spPr>
          <a:xfrm>
            <a:off x="311760" y="73800"/>
            <a:ext cx="8519040" cy="57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wrap="square">
            <a:noAutofit/>
          </a:bodyPr>
          <a:p>
            <a:pPr indent="0" algn="l" defTabSz="914400">
              <a:lnSpc>
                <a:spcPct val="90000"/>
              </a:lnSpc>
              <a:spcAft>
                <a:spcPts val="400"/>
              </a:spcAft>
              <a:buNone/>
              <a:tabLst>
                <a:tab pos="0" algn="l"/>
              </a:tabLst>
            </a:pPr>
            <a:r>
              <a:rPr sz="1600" b="0">
                <a:solidFill>
                  <a:srgbClr val="4D5B6E"/>
                </a:solidFill>
              </a:rPr>
              <a:t>Questions &amp; Demo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6"/>
          <p:cNvPicPr/>
          <p:nvPr/>
        </p:nvPicPr>
        <p:blipFill>
          <a:blip r:embed="rId1"/>
          <a:stretch/>
        </p:blipFill>
        <p:spPr>
          <a:xfrm>
            <a:off x="0" y="0"/>
            <a:ext cx="9142920" cy="515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01823"/>
                </a:solidFill>
              </a:rPr>
              <a:t>Workflow Diagram</a:t>
            </a:r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32688"/>
            <a:ext cx="8595360" cy="49093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01823"/>
                </a:solidFill>
              </a:rPr>
              <a:t>Database Design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32688"/>
            <a:ext cx="7772400" cy="44120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LibreOffice/26.2.5.2$Windows_X86_64 LibreOffice_project/cd7284b4cbbfeb507e630c1aac019f4157393acb</Application>
  <AppVersion>15.0000</AppVersion>
  <Words>56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2025-02-05T14:15:00Z</dcterms:created>
  <dc:creator>ASUS</dc:creator>
  <dc:description/>
  <dc:language>en-IN</dc:language>
  <cp:lastModifiedBy/>
  <dcterms:modified xsi:type="dcterms:W3CDTF">2026-08-01T22:22:32Z</dcterms:modified>
  <cp:revision>315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BBED4D06FCD047D7930F325834FE3031_13</vt:lpwstr>
  </property>
  <property fmtid="{D5CDD505-2E9C-101B-9397-08002B2CF9AE}" pid="3" name="KSOProductBuildVer">
    <vt:lpwstr>2057-12.2.0.19821</vt:lpwstr>
  </property>
  <property fmtid="{D5CDD505-2E9C-101B-9397-08002B2CF9AE}" pid="4" name="PresentationFormat">
    <vt:lpwstr>On-screen Show (16:9)</vt:lpwstr>
  </property>
  <property fmtid="{D5CDD505-2E9C-101B-9397-08002B2CF9AE}" pid="5" name="Slides">
    <vt:i4>9</vt:i4>
  </property>
</Properties>
</file>